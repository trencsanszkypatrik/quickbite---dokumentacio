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3" r:id="rId10"/>
    <p:sldId id="264" r:id="rId11"/>
    <p:sldId id="265" r:id="rId12"/>
    <p:sldId id="266" r:id="rId13"/>
    <p:sldId id="267" r:id="rId14"/>
    <p:sldId id="268" r:id="rId15"/>
    <p:sldId id="273" r:id="rId16"/>
    <p:sldId id="269" r:id="rId17"/>
    <p:sldId id="270" r:id="rId18"/>
    <p:sldId id="271" r:id="rId19"/>
  </p:sldIdLst>
  <p:sldSz cx="14630400" cy="8229600"/>
  <p:notesSz cx="8229600" cy="14630400"/>
  <p:embeddedFontLs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Tw Cen MT" panose="020B0602020104020603" pitchFamily="34" charset="0"/>
      <p:regular r:id="rId25"/>
      <p:bold r:id="rId26"/>
      <p:italic r:id="rId27"/>
      <p:boldItalic r:id="rId28"/>
    </p:embeddedFont>
  </p:embeddedFontLst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CF1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D49CAB-ED30-4A4F-94D1-CD51AB2315D9}" v="305" dt="2026-03-25T23:06:06.6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9137F6-3247-4F15-8989-10AC04E702DF}" type="datetimeFigureOut">
              <a:t>2026. 03. 25.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95D794-98DF-4CA6-8FBD-242230D94BEB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55783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36FDA-F50F-C223-0540-03277D371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7AEAA-DEEF-DF34-E96E-D726DD700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04C6C3-FEEC-F39A-4AB1-84BFCFEA3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4359A-0741-91B6-6273-6959EA04D0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5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6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949535"/>
            <a:ext cx="7556421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Tw Cen MT"/>
                <a:ea typeface="Marcellus" pitchFamily="34" charset="-122"/>
                <a:cs typeface="Marcellus" pitchFamily="34" charset="-120"/>
              </a:rPr>
              <a:t>Üdvözöljük a QuickBite világában!</a:t>
            </a:r>
            <a:endParaRPr lang="en-US" sz="5100" dirty="0">
              <a:latin typeface="Tw Cen MT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985147"/>
            <a:ext cx="75564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Új dimenzió az ételrendelésben - egyszerű, gyors, és megbízható</a:t>
            </a:r>
            <a:endParaRPr lang="en-US" sz="1750" dirty="0">
              <a:latin typeface="Tw Cen MT"/>
            </a:endParaRP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BD66950C-FB1B-8CA9-CE01-768A510033F7}"/>
              </a:ext>
            </a:extLst>
          </p:cNvPr>
          <p:cNvSpPr/>
          <p:nvPr/>
        </p:nvSpPr>
        <p:spPr>
          <a:xfrm>
            <a:off x="12150073" y="6997711"/>
            <a:ext cx="2485292" cy="1230923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3901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Tw Cen MT"/>
                <a:ea typeface="Marcellus" pitchFamily="34" charset="-122"/>
                <a:cs typeface="Marcellus" pitchFamily="34" charset="-120"/>
              </a:rPr>
              <a:t>QuickBite – Mi is ez?</a:t>
            </a:r>
            <a:endParaRPr lang="en-US" sz="5100" dirty="0">
              <a:latin typeface="Tw Cen M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985254"/>
            <a:ext cx="3090505" cy="1347073"/>
          </a:xfrm>
          <a:prstGeom prst="roundRect">
            <a:avLst>
              <a:gd name="adj" fmla="val 7072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3464" y="3234928"/>
            <a:ext cx="2591157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Ételrendelő Weboldal</a:t>
            </a:r>
            <a:endParaRPr lang="en-US" sz="2550" dirty="0">
              <a:latin typeface="Tw Cen M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1109" y="2985254"/>
            <a:ext cx="3090624" cy="1347073"/>
          </a:xfrm>
          <a:prstGeom prst="roundRect">
            <a:avLst>
              <a:gd name="adj" fmla="val 7072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60783" y="3234928"/>
            <a:ext cx="2591276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Saját Fiktív Éttermek</a:t>
            </a:r>
            <a:endParaRPr lang="en-US" sz="2550" dirty="0">
              <a:latin typeface="Tw Cen M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28548" y="2985254"/>
            <a:ext cx="3090624" cy="1347073"/>
          </a:xfrm>
          <a:prstGeom prst="roundRect">
            <a:avLst>
              <a:gd name="adj" fmla="val 7072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78222" y="3234928"/>
            <a:ext cx="2591276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Könnyen Kezelhető Felület</a:t>
            </a:r>
            <a:endParaRPr lang="en-US" sz="2550" dirty="0">
              <a:latin typeface="Tw Cen M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745986" y="2985254"/>
            <a:ext cx="3090624" cy="1347073"/>
          </a:xfrm>
          <a:prstGeom prst="roundRect">
            <a:avLst>
              <a:gd name="adj" fmla="val 7072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95660" y="3234928"/>
            <a:ext cx="2591276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Minden Egy Helyen</a:t>
            </a:r>
            <a:endParaRPr lang="en-US" sz="2550" dirty="0">
              <a:latin typeface="Tw Cen M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4672489"/>
            <a:ext cx="5216962" cy="67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100" dirty="0">
                <a:solidFill>
                  <a:srgbClr val="532418"/>
                </a:solidFill>
                <a:latin typeface="Tw Cen MT"/>
                <a:ea typeface="Marcellus" pitchFamily="34" charset="-122"/>
                <a:cs typeface="Marcellus" pitchFamily="34" charset="-120"/>
              </a:rPr>
              <a:t>A Fejlesztő Csapat</a:t>
            </a:r>
            <a:endParaRPr lang="en-US" sz="4100" dirty="0">
              <a:latin typeface="Tw Cen MT"/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5690830"/>
            <a:ext cx="680442" cy="68044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757720" y="5690830"/>
            <a:ext cx="3194685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Trencsánszky Patrik</a:t>
            </a:r>
            <a:endParaRPr lang="en-US" sz="2550" dirty="0">
              <a:latin typeface="Tw Cen MT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757720" y="6250781"/>
            <a:ext cx="319468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Scrum Master</a:t>
            </a:r>
            <a:endParaRPr lang="en-US" sz="1750" dirty="0">
              <a:latin typeface="Tw Cen MT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5690830"/>
            <a:ext cx="680442" cy="68044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199823" y="5690830"/>
            <a:ext cx="3194685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Lempner Martin</a:t>
            </a:r>
            <a:endParaRPr lang="en-US" sz="2550" dirty="0">
              <a:latin typeface="Tw Cen MT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199823" y="6250781"/>
            <a:ext cx="319468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Manager</a:t>
            </a:r>
            <a:endParaRPr lang="en-US" sz="1750" dirty="0">
              <a:latin typeface="Tw Cen MT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5690830"/>
            <a:ext cx="680442" cy="6804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641925" y="5690830"/>
            <a:ext cx="3194685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Berzi Dániel</a:t>
            </a:r>
            <a:endParaRPr lang="en-US" sz="2550" dirty="0">
              <a:latin typeface="Tw Cen MT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10641925" y="6250781"/>
            <a:ext cx="319468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Product Owner</a:t>
            </a:r>
            <a:endParaRPr lang="en-US" sz="1750" dirty="0">
              <a:latin typeface="Tw Cen MT"/>
            </a:endParaRPr>
          </a:p>
        </p:txBody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B8449500-ABEF-204A-0D14-F11B35C58BFA}"/>
              </a:ext>
            </a:extLst>
          </p:cNvPr>
          <p:cNvSpPr/>
          <p:nvPr/>
        </p:nvSpPr>
        <p:spPr>
          <a:xfrm>
            <a:off x="12150073" y="6997711"/>
            <a:ext cx="2485292" cy="1230923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3789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Tw Cen MT"/>
                <a:ea typeface="Marcellus" pitchFamily="34" charset="-122"/>
                <a:cs typeface="Marcellus" pitchFamily="34" charset="-120"/>
              </a:rPr>
              <a:t>A fejlesztő csapat</a:t>
            </a:r>
            <a:endParaRPr lang="en-US" sz="5100" dirty="0">
              <a:latin typeface="Tw Cen M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045143"/>
            <a:ext cx="4196358" cy="3440549"/>
          </a:xfrm>
          <a:prstGeom prst="roundRect">
            <a:avLst>
              <a:gd name="adj" fmla="val 2769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3464" y="329481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954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0630" y="3481983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3464" y="4202073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>
                <a:solidFill>
                  <a:srgbClr val="67534F"/>
                </a:solidFill>
                <a:latin typeface="Tw Cen MT"/>
                <a:ea typeface="Marcellus"/>
              </a:rPr>
              <a:t>Patrik</a:t>
            </a:r>
            <a:endParaRPr lang="hu-HU"/>
          </a:p>
        </p:txBody>
      </p:sp>
      <p:sp>
        <p:nvSpPr>
          <p:cNvPr id="7" name="Text 4"/>
          <p:cNvSpPr/>
          <p:nvPr/>
        </p:nvSpPr>
        <p:spPr>
          <a:xfrm>
            <a:off x="1043464" y="4762024"/>
            <a:ext cx="3697010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Ő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fektette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le a backend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alapjait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és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tervezte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meg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az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adatbázist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,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majd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a HTML-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vázat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interaktív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frontenddé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alakította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. A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főbb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funkciók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lefejlesztése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mellett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ő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fogta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össze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a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csapatot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és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irányította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a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közös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munkát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.</a:t>
            </a:r>
            <a:endParaRPr lang="hu-HU" sz="1600" dirty="0">
              <a:latin typeface="Tw Cen MT"/>
              <a:ea typeface="+mn-lt"/>
              <a:cs typeface="+mn-lt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216962" y="3045143"/>
            <a:ext cx="4196358" cy="3440549"/>
          </a:xfrm>
          <a:prstGeom prst="roundRect">
            <a:avLst>
              <a:gd name="adj" fmla="val 2769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66636" y="329481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954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3802" y="3481983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66636" y="4202073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>
                <a:solidFill>
                  <a:srgbClr val="67534F"/>
                </a:solidFill>
                <a:latin typeface="Tw Cen MT"/>
                <a:ea typeface="Marcellus"/>
              </a:rPr>
              <a:t>Martin</a:t>
            </a:r>
          </a:p>
        </p:txBody>
      </p:sp>
      <p:sp>
        <p:nvSpPr>
          <p:cNvPr id="12" name="Text 8"/>
          <p:cNvSpPr/>
          <p:nvPr/>
        </p:nvSpPr>
        <p:spPr>
          <a:xfrm>
            <a:off x="5466636" y="4762024"/>
            <a:ext cx="3697010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Felelős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volt a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teljes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vizuális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világ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megtervezéséért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, a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stabil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HTML-váz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és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az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interaktív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React-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komponensek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fejlesztéséért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,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emellett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pedig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rengeteg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adattal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töltötte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fel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az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adatbázist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a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projekt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indulásához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.</a:t>
            </a:r>
            <a:endParaRPr lang="hu-HU" sz="1600" dirty="0">
              <a:latin typeface="Tw Cen MT"/>
              <a:ea typeface="+mn-lt"/>
              <a:cs typeface="+mn-lt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9640133" y="3045143"/>
            <a:ext cx="4196358" cy="3440549"/>
          </a:xfrm>
          <a:prstGeom prst="roundRect">
            <a:avLst>
              <a:gd name="adj" fmla="val 2769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89808" y="329481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954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6974" y="3481983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89808" y="4202073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>
                <a:solidFill>
                  <a:srgbClr val="67534F"/>
                </a:solidFill>
                <a:latin typeface="Tw Cen MT"/>
                <a:ea typeface="Marcellus"/>
              </a:rPr>
              <a:t>Dani</a:t>
            </a:r>
            <a:endParaRPr lang="hu-HU"/>
          </a:p>
        </p:txBody>
      </p:sp>
      <p:sp>
        <p:nvSpPr>
          <p:cNvPr id="17" name="Text 12"/>
          <p:cNvSpPr/>
          <p:nvPr/>
        </p:nvSpPr>
        <p:spPr>
          <a:xfrm>
            <a:off x="9889808" y="4762024"/>
            <a:ext cx="3697010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600" dirty="0">
                <a:solidFill>
                  <a:srgbClr val="67534F"/>
                </a:solidFill>
                <a:latin typeface="Tw Cen MT"/>
                <a:ea typeface="Calibri"/>
                <a:cs typeface="Calibri"/>
              </a:rPr>
              <a:t>Ő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bővítette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tovább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az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adatbázisunkat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,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és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segített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behúzni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a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kisebb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, de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fontos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frontend-backend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feladatokat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.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Emellett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a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háttérben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ő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tartotta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rendben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a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projektet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: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folyamatosan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írta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,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kezelte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és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frissítette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 a </a:t>
            </a:r>
            <a:r>
              <a:rPr lang="en-US" sz="1600" dirty="0" err="1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dokumentációt</a:t>
            </a:r>
            <a:r>
              <a:rPr lang="en-US" sz="1600" dirty="0">
                <a:solidFill>
                  <a:srgbClr val="67534F"/>
                </a:solidFill>
                <a:latin typeface="Tw Cen MT"/>
                <a:ea typeface="+mn-lt"/>
                <a:cs typeface="+mn-lt"/>
              </a:rPr>
              <a:t>.</a:t>
            </a:r>
            <a:endParaRPr lang="en-US" sz="1600" dirty="0">
              <a:solidFill>
                <a:srgbClr val="67534F"/>
              </a:solidFill>
              <a:latin typeface="Tw Cen MT"/>
            </a:endParaRPr>
          </a:p>
        </p:txBody>
      </p:sp>
      <p:sp>
        <p:nvSpPr>
          <p:cNvPr id="19" name="Téglalap 18">
            <a:extLst>
              <a:ext uri="{FF2B5EF4-FFF2-40B4-BE49-F238E27FC236}">
                <a16:creationId xmlns:a16="http://schemas.microsoft.com/office/drawing/2014/main" id="{BBEAC198-57D3-D7DC-B6B1-32C199A2761B}"/>
              </a:ext>
            </a:extLst>
          </p:cNvPr>
          <p:cNvSpPr/>
          <p:nvPr/>
        </p:nvSpPr>
        <p:spPr>
          <a:xfrm>
            <a:off x="12150073" y="6997711"/>
            <a:ext cx="2485292" cy="1230923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4963" y="1178957"/>
            <a:ext cx="7176135" cy="69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200" dirty="0">
                <a:solidFill>
                  <a:srgbClr val="532418"/>
                </a:solidFill>
                <a:latin typeface="Tw Cen MT"/>
                <a:ea typeface="Marcellus" pitchFamily="34" charset="-122"/>
                <a:cs typeface="Marcellus" pitchFamily="34" charset="-120"/>
              </a:rPr>
              <a:t>QuickBite – A mi motivációnk</a:t>
            </a:r>
            <a:endParaRPr lang="en-US" sz="4200" dirty="0">
              <a:latin typeface="Tw Cen MT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54963" y="2109907"/>
            <a:ext cx="3839885" cy="2243733"/>
          </a:xfrm>
          <a:prstGeom prst="roundRect">
            <a:avLst>
              <a:gd name="adj" fmla="val 3503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4870" y="2319814"/>
            <a:ext cx="561380" cy="561380"/>
          </a:xfrm>
          <a:prstGeom prst="roundRect">
            <a:avLst>
              <a:gd name="adj" fmla="val 16286803"/>
            </a:avLst>
          </a:prstGeom>
          <a:solidFill>
            <a:srgbClr val="FF954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9294" y="2474119"/>
            <a:ext cx="252532" cy="2525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4870" y="3035498"/>
            <a:ext cx="2690217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Egyszerűség</a:t>
            </a:r>
            <a:endParaRPr lang="en-US" sz="2100" dirty="0">
              <a:latin typeface="Tw Cen MT"/>
            </a:endParaRPr>
          </a:p>
        </p:txBody>
      </p:sp>
      <p:sp>
        <p:nvSpPr>
          <p:cNvPr id="8" name="Text 4"/>
          <p:cNvSpPr/>
          <p:nvPr/>
        </p:nvSpPr>
        <p:spPr>
          <a:xfrm>
            <a:off x="864870" y="3477935"/>
            <a:ext cx="3420070" cy="443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Megszüntetjük a rendelési káoszt – tiszta, logikus felület, zéró sallang.</a:t>
            </a:r>
            <a:endParaRPr lang="en-US" sz="1450" dirty="0">
              <a:latin typeface="Tw Cen MT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649153" y="2109907"/>
            <a:ext cx="3839885" cy="2243733"/>
          </a:xfrm>
          <a:prstGeom prst="roundRect">
            <a:avLst>
              <a:gd name="adj" fmla="val 3503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59060" y="2319814"/>
            <a:ext cx="561380" cy="561380"/>
          </a:xfrm>
          <a:prstGeom prst="roundRect">
            <a:avLst>
              <a:gd name="adj" fmla="val 16286803"/>
            </a:avLst>
          </a:prstGeom>
          <a:solidFill>
            <a:srgbClr val="FF954F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13484" y="2474119"/>
            <a:ext cx="252532" cy="2525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59060" y="3035498"/>
            <a:ext cx="2690217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Gyorsaság</a:t>
            </a:r>
            <a:endParaRPr lang="en-US" sz="2100" dirty="0">
              <a:latin typeface="Tw Cen MT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859060" y="3477935"/>
            <a:ext cx="3420070" cy="66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Minimális kattintás, maximális sebesség az éhségtől a visszaigazolásig.</a:t>
            </a:r>
            <a:endParaRPr lang="en-US" sz="1450" dirty="0">
              <a:latin typeface="Tw Cen MT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654963" y="4507944"/>
            <a:ext cx="7834074" cy="1799868"/>
          </a:xfrm>
          <a:prstGeom prst="roundRect">
            <a:avLst>
              <a:gd name="adj" fmla="val 4367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64870" y="4717852"/>
            <a:ext cx="561380" cy="561380"/>
          </a:xfrm>
          <a:prstGeom prst="roundRect">
            <a:avLst>
              <a:gd name="adj" fmla="val 16286803"/>
            </a:avLst>
          </a:prstGeom>
          <a:solidFill>
            <a:srgbClr val="FF954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9294" y="4872157"/>
            <a:ext cx="252532" cy="2525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4870" y="5433536"/>
            <a:ext cx="2690217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Egyediség</a:t>
            </a:r>
            <a:endParaRPr lang="en-US" sz="2100" dirty="0">
              <a:latin typeface="Tw Cen MT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64870" y="5875973"/>
            <a:ext cx="7414260" cy="221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5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Saját</a:t>
            </a:r>
            <a:r>
              <a:rPr lang="en-US" sz="14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5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fejlesztésű</a:t>
            </a:r>
            <a:r>
              <a:rPr lang="en-US" sz="14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5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fiktív</a:t>
            </a:r>
            <a:r>
              <a:rPr lang="en-US" sz="14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5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éttermekkel</a:t>
            </a:r>
            <a:r>
              <a:rPr lang="en-US" sz="14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5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teremtünk</a:t>
            </a:r>
            <a:r>
              <a:rPr lang="en-US" sz="14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5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digitális</a:t>
            </a:r>
            <a:r>
              <a:rPr lang="en-US" sz="14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5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élményt</a:t>
            </a:r>
            <a:r>
              <a:rPr lang="en-US" sz="14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.</a:t>
            </a:r>
            <a:endParaRPr lang="en-US" sz="1450" dirty="0">
              <a:latin typeface="Tw Cen MT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935593" y="6654998"/>
            <a:ext cx="7553444" cy="221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„</a:t>
            </a:r>
            <a:r>
              <a:rPr lang="en-US" sz="2400" i="1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Éhes vagy? Rendelj most!</a:t>
            </a:r>
            <a:r>
              <a:rPr lang="en-US" sz="240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”</a:t>
            </a:r>
            <a:endParaRPr lang="en-US" sz="2400" dirty="0">
              <a:latin typeface="Tw Cen MT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654963" y="6481405"/>
            <a:ext cx="22860" cy="569119"/>
          </a:xfrm>
          <a:prstGeom prst="rect">
            <a:avLst/>
          </a:prstGeom>
          <a:solidFill>
            <a:srgbClr val="FF954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384" y="626745"/>
            <a:ext cx="7575233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5050" dirty="0">
                <a:solidFill>
                  <a:srgbClr val="532418"/>
                </a:solidFill>
                <a:latin typeface="Tw Cen MT"/>
                <a:ea typeface="Marcellus" pitchFamily="34" charset="-122"/>
                <a:cs typeface="Marcellus" pitchFamily="34" charset="-120"/>
              </a:rPr>
              <a:t>Miért válaszd ezt a platformot?</a:t>
            </a:r>
            <a:endParaRPr lang="en-US" sz="5050" dirty="0">
              <a:latin typeface="Tw Cen MT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84384" y="2634139"/>
            <a:ext cx="3676888" cy="2518410"/>
          </a:xfrm>
          <a:prstGeom prst="roundRect">
            <a:avLst>
              <a:gd name="adj" fmla="val 3738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31319" y="2881074"/>
            <a:ext cx="672346" cy="672346"/>
          </a:xfrm>
          <a:prstGeom prst="roundRect">
            <a:avLst>
              <a:gd name="adj" fmla="val 13598780"/>
            </a:avLst>
          </a:prstGeom>
          <a:solidFill>
            <a:srgbClr val="FF954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6223" y="3065978"/>
            <a:ext cx="302538" cy="3025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31319" y="3774877"/>
            <a:ext cx="3183017" cy="41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Gyors szállítás</a:t>
            </a:r>
            <a:endParaRPr lang="en-US" sz="2500" dirty="0">
              <a:latin typeface="Tw Cen MT"/>
            </a:endParaRPr>
          </a:p>
        </p:txBody>
      </p:sp>
      <p:sp>
        <p:nvSpPr>
          <p:cNvPr id="8" name="Text 4"/>
          <p:cNvSpPr/>
          <p:nvPr/>
        </p:nvSpPr>
        <p:spPr>
          <a:xfrm>
            <a:off x="1031319" y="4326493"/>
            <a:ext cx="3183017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Az étel még melegen érkezik hozzád</a:t>
            </a:r>
            <a:endParaRPr lang="en-US" sz="1750" dirty="0">
              <a:latin typeface="Tw Cen MT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682728" y="2634139"/>
            <a:ext cx="3676888" cy="2518410"/>
          </a:xfrm>
          <a:prstGeom prst="roundRect">
            <a:avLst>
              <a:gd name="adj" fmla="val 3738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29664" y="2881074"/>
            <a:ext cx="672346" cy="672346"/>
          </a:xfrm>
          <a:prstGeom prst="roundRect">
            <a:avLst>
              <a:gd name="adj" fmla="val 13598780"/>
            </a:avLst>
          </a:prstGeom>
          <a:solidFill>
            <a:srgbClr val="FF954F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14568" y="3065978"/>
            <a:ext cx="302538" cy="3025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29664" y="3774877"/>
            <a:ext cx="3183017" cy="41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Minőségi éttermek</a:t>
            </a:r>
            <a:endParaRPr lang="en-US" sz="2500" dirty="0">
              <a:latin typeface="Tw Cen MT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929664" y="4326493"/>
            <a:ext cx="3183017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Kiválasztott partner éttermek listája</a:t>
            </a:r>
            <a:endParaRPr lang="en-US" sz="1750" dirty="0">
              <a:latin typeface="Tw Cen MT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84384" y="5374005"/>
            <a:ext cx="7575233" cy="2228850"/>
          </a:xfrm>
          <a:prstGeom prst="roundRect">
            <a:avLst>
              <a:gd name="adj" fmla="val 4223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031319" y="5620941"/>
            <a:ext cx="672346" cy="672346"/>
          </a:xfrm>
          <a:prstGeom prst="roundRect">
            <a:avLst>
              <a:gd name="adj" fmla="val 13598780"/>
            </a:avLst>
          </a:prstGeom>
          <a:solidFill>
            <a:srgbClr val="FF954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6223" y="5805845"/>
            <a:ext cx="302538" cy="3025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31319" y="6514743"/>
            <a:ext cx="3221831" cy="41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Biztonságos fizetés</a:t>
            </a:r>
            <a:endParaRPr lang="en-US" sz="2500" dirty="0">
              <a:latin typeface="Tw Cen MT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1031319" y="7066359"/>
            <a:ext cx="7081361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Kártyás vagy készpénzes fizetési lehetőségek</a:t>
            </a:r>
            <a:endParaRPr lang="en-US" sz="1750" dirty="0">
              <a:latin typeface="Tw Cen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36445"/>
            <a:ext cx="7554992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Tw Cen MT"/>
                <a:ea typeface="Marcellus" pitchFamily="34" charset="-122"/>
                <a:cs typeface="Marcellus" pitchFamily="34" charset="-120"/>
              </a:rPr>
              <a:t>Ki használja a platformot?</a:t>
            </a:r>
            <a:endParaRPr lang="en-US" sz="5100" dirty="0">
              <a:latin typeface="Tw Cen MT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3451146"/>
            <a:ext cx="3501509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FF95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Felhasználók</a:t>
            </a:r>
            <a:endParaRPr lang="en-US" sz="3050" dirty="0">
              <a:latin typeface="Tw Cen MT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4186476"/>
            <a:ext cx="3501509" cy="125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Ételrendelés otthonról vagy munkahelyről</a:t>
            </a:r>
            <a:endParaRPr lang="en-US" sz="1750" dirty="0">
              <a:latin typeface="Tw Cen MT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Értékelések és vélemények írása</a:t>
            </a:r>
            <a:endParaRPr lang="en-US" sz="1750" dirty="0">
              <a:latin typeface="Tw Cen MT"/>
            </a:endParaRPr>
          </a:p>
        </p:txBody>
      </p:sp>
      <p:sp>
        <p:nvSpPr>
          <p:cNvPr id="6" name="Text 3"/>
          <p:cNvSpPr/>
          <p:nvPr/>
        </p:nvSpPr>
        <p:spPr>
          <a:xfrm>
            <a:off x="4856321" y="3451146"/>
            <a:ext cx="3501509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FF95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Éttermek</a:t>
            </a:r>
            <a:endParaRPr lang="en-US" sz="3050" dirty="0">
              <a:latin typeface="Tw Cen MT"/>
            </a:endParaRPr>
          </a:p>
        </p:txBody>
      </p:sp>
      <p:sp>
        <p:nvSpPr>
          <p:cNvPr id="7" name="Text 4"/>
          <p:cNvSpPr/>
          <p:nvPr/>
        </p:nvSpPr>
        <p:spPr>
          <a:xfrm>
            <a:off x="4856321" y="4186476"/>
            <a:ext cx="3501509" cy="1927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Menük feltöltése és kezelése</a:t>
            </a:r>
            <a:endParaRPr lang="en-US" sz="1750" dirty="0">
              <a:latin typeface="Tw Cen MT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Rendelések fogadása és feldolgozása</a:t>
            </a:r>
            <a:endParaRPr lang="en-US" sz="1750" dirty="0">
              <a:latin typeface="Tw Cen MT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Értékelések figyelemmel kísérése</a:t>
            </a:r>
            <a:endParaRPr lang="en-US" sz="1750" dirty="0">
              <a:latin typeface="Tw Cen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32196"/>
            <a:ext cx="8691920" cy="35649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46732" y="1128832"/>
            <a:ext cx="3797379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Tw Cen MT"/>
                <a:ea typeface="Marcellus" pitchFamily="34" charset="-122"/>
                <a:cs typeface="Marcellus" pitchFamily="34" charset="-120"/>
              </a:rPr>
              <a:t>Főoldal</a:t>
            </a:r>
            <a:endParaRPr lang="en-US" sz="5100" dirty="0">
              <a:latin typeface="Tw Cen MT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0046732" y="223170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84748" y="2318602"/>
            <a:ext cx="391239" cy="50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30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1</a:t>
            </a:r>
            <a:endParaRPr lang="en-US" sz="3050" dirty="0">
              <a:latin typeface="Tw Cen MT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783848" y="2302550"/>
            <a:ext cx="3060263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Keresés és szűrés</a:t>
            </a:r>
            <a:endParaRPr lang="en-US" sz="2550" dirty="0">
              <a:latin typeface="Tw Cen MT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783848" y="2953226"/>
            <a:ext cx="3060263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Kategóriák, helyszín, ár alapján</a:t>
            </a:r>
            <a:endParaRPr lang="en-US" sz="1750" dirty="0">
              <a:latin typeface="Tw Cen MT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046732" y="399645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84748" y="4083346"/>
            <a:ext cx="391239" cy="50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30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2</a:t>
            </a:r>
            <a:endParaRPr lang="en-US" sz="3050" dirty="0">
              <a:latin typeface="Tw Cen MT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783848" y="4067294"/>
            <a:ext cx="3060263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Kiemelt éttermek</a:t>
            </a:r>
            <a:endParaRPr lang="en-US" sz="2550" dirty="0">
              <a:latin typeface="Tw Cen MT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783848" y="4717971"/>
            <a:ext cx="3060263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Aktuális promóciók és ajánlatok</a:t>
            </a:r>
            <a:endParaRPr lang="en-US" sz="1750" dirty="0">
              <a:latin typeface="Tw Cen MT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046732" y="576119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84748" y="5848091"/>
            <a:ext cx="391239" cy="50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30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3</a:t>
            </a:r>
            <a:endParaRPr lang="en-US" sz="3050" dirty="0">
              <a:latin typeface="Tw Cen MT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783848" y="5832038"/>
            <a:ext cx="3060263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Gyors hozzáférés</a:t>
            </a:r>
            <a:endParaRPr lang="en-US" sz="2550" dirty="0">
              <a:latin typeface="Tw Cen MT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783848" y="6482715"/>
            <a:ext cx="3060263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Kedvencek és korábbi rendelések</a:t>
            </a:r>
            <a:endParaRPr lang="en-US" sz="1750" dirty="0">
              <a:latin typeface="Tw Cen MT"/>
            </a:endParaRPr>
          </a:p>
        </p:txBody>
      </p:sp>
      <p:sp>
        <p:nvSpPr>
          <p:cNvPr id="17" name="Téglalap 16">
            <a:extLst>
              <a:ext uri="{FF2B5EF4-FFF2-40B4-BE49-F238E27FC236}">
                <a16:creationId xmlns:a16="http://schemas.microsoft.com/office/drawing/2014/main" id="{25262391-B98A-6DB2-67FE-E2F304CC7F8B}"/>
              </a:ext>
            </a:extLst>
          </p:cNvPr>
          <p:cNvSpPr/>
          <p:nvPr/>
        </p:nvSpPr>
        <p:spPr>
          <a:xfrm>
            <a:off x="12150073" y="6997711"/>
            <a:ext cx="2485292" cy="1230923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ECD79-B4EE-1D6C-62FC-E6EC8E2DF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94B2BF4-E67C-E75D-64E2-35F0E9506969}"/>
              </a:ext>
            </a:extLst>
          </p:cNvPr>
          <p:cNvSpPr/>
          <p:nvPr/>
        </p:nvSpPr>
        <p:spPr>
          <a:xfrm>
            <a:off x="797224" y="976432"/>
            <a:ext cx="5637902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650"/>
              </a:lnSpc>
            </a:pPr>
            <a:r>
              <a:rPr lang="en-US" sz="5100" err="1">
                <a:solidFill>
                  <a:srgbClr val="532418"/>
                </a:solidFill>
                <a:latin typeface="Tw Cen MT"/>
                <a:ea typeface="Marcellus"/>
                <a:cs typeface="Marcellus" pitchFamily="34" charset="-120"/>
              </a:rPr>
              <a:t>Főoldal</a:t>
            </a:r>
            <a:r>
              <a:rPr lang="en-US" sz="5100">
                <a:solidFill>
                  <a:srgbClr val="532418"/>
                </a:solidFill>
                <a:latin typeface="Tw Cen MT"/>
                <a:ea typeface="Marcellus"/>
                <a:cs typeface="Marcellus" pitchFamily="34" charset="-120"/>
              </a:rPr>
              <a:t> - </a:t>
            </a:r>
            <a:r>
              <a:rPr lang="en-US" sz="5100" err="1">
                <a:solidFill>
                  <a:srgbClr val="532418"/>
                </a:solidFill>
                <a:latin typeface="Tw Cen MT"/>
                <a:ea typeface="Marcellus"/>
                <a:cs typeface="Marcellus" pitchFamily="34" charset="-120"/>
              </a:rPr>
              <a:t>Térkép</a:t>
            </a:r>
            <a:endParaRPr lang="en-US" sz="5100" dirty="0" err="1">
              <a:latin typeface="Tw Cen MT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3C1BAA6-B035-9517-D71B-82881975F274}"/>
              </a:ext>
            </a:extLst>
          </p:cNvPr>
          <p:cNvSpPr/>
          <p:nvPr/>
        </p:nvSpPr>
        <p:spPr>
          <a:xfrm>
            <a:off x="8533017" y="3275566"/>
            <a:ext cx="3845709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550" dirty="0" err="1">
                <a:solidFill>
                  <a:srgbClr val="67534F"/>
                </a:solidFill>
                <a:latin typeface="Tw Cen MT"/>
                <a:ea typeface="Marcellus"/>
              </a:rPr>
              <a:t>Gyors</a:t>
            </a:r>
            <a:r>
              <a:rPr lang="en-US" sz="2550" dirty="0">
                <a:solidFill>
                  <a:srgbClr val="67534F"/>
                </a:solidFill>
                <a:latin typeface="Tw Cen MT"/>
                <a:ea typeface="Marcellus"/>
              </a:rPr>
              <a:t> </a:t>
            </a:r>
            <a:r>
              <a:rPr lang="en-US" sz="2550" dirty="0" err="1">
                <a:solidFill>
                  <a:srgbClr val="67534F"/>
                </a:solidFill>
                <a:latin typeface="Tw Cen MT"/>
                <a:ea typeface="Marcellus"/>
              </a:rPr>
              <a:t>keresés</a:t>
            </a:r>
            <a:r>
              <a:rPr lang="en-US" sz="2550" dirty="0">
                <a:solidFill>
                  <a:srgbClr val="67534F"/>
                </a:solidFill>
                <a:latin typeface="Tw Cen MT"/>
                <a:ea typeface="Marcellus"/>
              </a:rPr>
              <a:t>, </a:t>
            </a:r>
            <a:r>
              <a:rPr lang="en-US" sz="2550" dirty="0" err="1">
                <a:solidFill>
                  <a:srgbClr val="67534F"/>
                </a:solidFill>
                <a:latin typeface="Tw Cen MT"/>
                <a:ea typeface="Marcellus"/>
              </a:rPr>
              <a:t>hely</a:t>
            </a:r>
            <a:r>
              <a:rPr lang="en-US" sz="2550" dirty="0">
                <a:solidFill>
                  <a:srgbClr val="67534F"/>
                </a:solidFill>
                <a:latin typeface="Tw Cen MT"/>
                <a:ea typeface="Marcellus"/>
              </a:rPr>
              <a:t> </a:t>
            </a:r>
            <a:r>
              <a:rPr lang="en-US" sz="2550" dirty="0" err="1">
                <a:solidFill>
                  <a:srgbClr val="67534F"/>
                </a:solidFill>
                <a:latin typeface="Tw Cen MT"/>
                <a:ea typeface="Marcellus"/>
              </a:rPr>
              <a:t>alapján</a:t>
            </a:r>
            <a:endParaRPr lang="hu-HU" dirty="0" err="1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41E8565-383F-8272-B3D1-0634AF863CC6}"/>
              </a:ext>
            </a:extLst>
          </p:cNvPr>
          <p:cNvSpPr/>
          <p:nvPr/>
        </p:nvSpPr>
        <p:spPr>
          <a:xfrm>
            <a:off x="8533017" y="5028586"/>
            <a:ext cx="337678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550" dirty="0" err="1">
                <a:solidFill>
                  <a:srgbClr val="67534F"/>
                </a:solidFill>
                <a:latin typeface="Tw Cen MT"/>
                <a:ea typeface="Marcellus"/>
              </a:rPr>
              <a:t>Kattintásra</a:t>
            </a:r>
            <a:r>
              <a:rPr lang="en-US" sz="2550" dirty="0">
                <a:solidFill>
                  <a:srgbClr val="67534F"/>
                </a:solidFill>
                <a:latin typeface="Tw Cen MT"/>
                <a:ea typeface="Marcellus"/>
              </a:rPr>
              <a:t> </a:t>
            </a:r>
            <a:r>
              <a:rPr lang="en-US" sz="2550" dirty="0" err="1">
                <a:solidFill>
                  <a:srgbClr val="67534F"/>
                </a:solidFill>
                <a:latin typeface="Tw Cen MT"/>
                <a:ea typeface="Marcellus"/>
              </a:rPr>
              <a:t>részletes</a:t>
            </a:r>
            <a:r>
              <a:rPr lang="en-US" sz="2550" dirty="0">
                <a:solidFill>
                  <a:srgbClr val="67534F"/>
                </a:solidFill>
                <a:latin typeface="Tw Cen MT"/>
                <a:ea typeface="Marcellus"/>
              </a:rPr>
              <a:t> </a:t>
            </a:r>
            <a:r>
              <a:rPr lang="en-US" sz="2550" dirty="0" err="1">
                <a:solidFill>
                  <a:srgbClr val="67534F"/>
                </a:solidFill>
                <a:latin typeface="Tw Cen MT"/>
                <a:ea typeface="Marcellus"/>
              </a:rPr>
              <a:t>infók</a:t>
            </a:r>
            <a:endParaRPr lang="en-US" sz="2550" dirty="0">
              <a:solidFill>
                <a:srgbClr val="67534F"/>
              </a:solidFill>
              <a:latin typeface="Tw Cen MT"/>
              <a:ea typeface="Marcellus"/>
            </a:endParaRPr>
          </a:p>
        </p:txBody>
      </p:sp>
      <p:sp>
        <p:nvSpPr>
          <p:cNvPr id="17" name="Téglalap 16">
            <a:extLst>
              <a:ext uri="{FF2B5EF4-FFF2-40B4-BE49-F238E27FC236}">
                <a16:creationId xmlns:a16="http://schemas.microsoft.com/office/drawing/2014/main" id="{CD5F8F29-1113-A2A6-18DF-84BD5892F894}"/>
              </a:ext>
            </a:extLst>
          </p:cNvPr>
          <p:cNvSpPr/>
          <p:nvPr/>
        </p:nvSpPr>
        <p:spPr>
          <a:xfrm>
            <a:off x="12150073" y="6997711"/>
            <a:ext cx="2485292" cy="1230923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6" name="Kép 15" descr="A képen szöveg, térkép, képernyőkép, atlasz látható&#10;&#10;Lehet, hogy az AI által létrehozott tartalom helytelen.">
            <a:extLst>
              <a:ext uri="{FF2B5EF4-FFF2-40B4-BE49-F238E27FC236}">
                <a16:creationId xmlns:a16="http://schemas.microsoft.com/office/drawing/2014/main" id="{DAD54F76-6CE1-1FE8-1B1F-6E4BD38FC0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3" r="220"/>
          <a:stretch>
            <a:fillRect/>
          </a:stretch>
        </p:blipFill>
        <p:spPr>
          <a:xfrm>
            <a:off x="797224" y="2526323"/>
            <a:ext cx="7343002" cy="421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05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5454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Tw Cen MT"/>
                <a:ea typeface="Marcellus" pitchFamily="34" charset="-122"/>
                <a:cs typeface="Marcellus" pitchFamily="34" charset="-120"/>
              </a:rPr>
              <a:t>Éttermek böngészése</a:t>
            </a:r>
            <a:endParaRPr lang="en-US" sz="5100" dirty="0">
              <a:latin typeface="Tw Cen MT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713905"/>
            <a:ext cx="3912751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Tw Cen MT"/>
                <a:ea typeface="Marcellus" pitchFamily="34" charset="-122"/>
                <a:cs typeface="Marcellus" pitchFamily="34" charset="-120"/>
              </a:rPr>
              <a:t>Szűrési lehetőségek</a:t>
            </a:r>
            <a:endParaRPr lang="en-US" sz="3050" dirty="0">
              <a:latin typeface="Tw Cen MT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766655"/>
            <a:ext cx="284559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Nyitvatartás</a:t>
            </a:r>
            <a:endParaRPr lang="en-US" sz="1750" dirty="0">
              <a:latin typeface="Tw Cen M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00406" y="2766655"/>
            <a:ext cx="2845594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Étel típusok (pizzák, sushik, steak)</a:t>
            </a:r>
            <a:endParaRPr lang="en-US" sz="1750" dirty="0">
              <a:latin typeface="Tw Cen MT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07022" y="2766655"/>
            <a:ext cx="284559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Árkategóriák</a:t>
            </a:r>
            <a:endParaRPr lang="en-US" sz="1750" dirty="0">
              <a:latin typeface="Tw Cen MT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013638" y="2766655"/>
            <a:ext cx="284559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Átlagos értékelés</a:t>
            </a:r>
            <a:endParaRPr lang="en-US" sz="1750" dirty="0">
              <a:latin typeface="Tw Cen MT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896" y="3836670"/>
            <a:ext cx="6770608" cy="3402330"/>
          </a:xfrm>
          <a:prstGeom prst="rect">
            <a:avLst/>
          </a:prstGeom>
        </p:spPr>
      </p:pic>
      <p:sp>
        <p:nvSpPr>
          <p:cNvPr id="10" name="Téglalap 9">
            <a:extLst>
              <a:ext uri="{FF2B5EF4-FFF2-40B4-BE49-F238E27FC236}">
                <a16:creationId xmlns:a16="http://schemas.microsoft.com/office/drawing/2014/main" id="{6AEE8492-5D88-F4B8-1748-2CD929266A7D}"/>
              </a:ext>
            </a:extLst>
          </p:cNvPr>
          <p:cNvSpPr/>
          <p:nvPr/>
        </p:nvSpPr>
        <p:spPr>
          <a:xfrm>
            <a:off x="12150073" y="6997711"/>
            <a:ext cx="2485292" cy="1230923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890713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Tw Cen MT"/>
                <a:ea typeface="Marcellus" pitchFamily="34" charset="-122"/>
                <a:cs typeface="Marcellus" pitchFamily="34" charset="-120"/>
              </a:rPr>
              <a:t>Étterem menü oldal</a:t>
            </a:r>
            <a:endParaRPr lang="en-US" sz="5100" dirty="0">
              <a:latin typeface="Tw Cen MT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3078599"/>
            <a:ext cx="3664744" cy="1664137"/>
          </a:xfrm>
          <a:prstGeom prst="roundRect">
            <a:avLst>
              <a:gd name="adj" fmla="val 5725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1084" y="3335893"/>
            <a:ext cx="315015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Étlap kategóriák</a:t>
            </a:r>
            <a:endParaRPr lang="en-US" sz="2550" dirty="0">
              <a:latin typeface="Tw Cen MT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51084" y="3895844"/>
            <a:ext cx="315015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Előétel, főétel, desszert, ital</a:t>
            </a:r>
            <a:endParaRPr lang="en-US" sz="1750" dirty="0">
              <a:latin typeface="Tw Cen MT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685348" y="3078599"/>
            <a:ext cx="3664863" cy="1664137"/>
          </a:xfrm>
          <a:prstGeom prst="roundRect">
            <a:avLst>
              <a:gd name="adj" fmla="val 5725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42642" y="3335893"/>
            <a:ext cx="3150275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Részletes leírások</a:t>
            </a:r>
            <a:endParaRPr lang="en-US" sz="2550" dirty="0">
              <a:latin typeface="Tw Cen MT"/>
            </a:endParaRPr>
          </a:p>
        </p:txBody>
      </p:sp>
      <p:sp>
        <p:nvSpPr>
          <p:cNvPr id="9" name="Text 6"/>
          <p:cNvSpPr/>
          <p:nvPr/>
        </p:nvSpPr>
        <p:spPr>
          <a:xfrm>
            <a:off x="4942642" y="3895844"/>
            <a:ext cx="3150275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Összetevők, allergének, kalóriák</a:t>
            </a:r>
            <a:endParaRPr lang="en-US" sz="1750" dirty="0">
              <a:latin typeface="Tw Cen MT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93790" y="4969550"/>
            <a:ext cx="7556421" cy="1369338"/>
          </a:xfrm>
          <a:prstGeom prst="roundRect">
            <a:avLst>
              <a:gd name="adj" fmla="val 6957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084" y="5226844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Képek minden ételről</a:t>
            </a:r>
            <a:endParaRPr lang="en-US" sz="2550" dirty="0">
              <a:latin typeface="Tw Cen MT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51084" y="5786795"/>
            <a:ext cx="704183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Vizuális inspiráció a választáshoz</a:t>
            </a:r>
            <a:endParaRPr lang="en-US" sz="1750" dirty="0">
              <a:latin typeface="Tw Cen MT"/>
            </a:endParaRPr>
          </a:p>
        </p:txBody>
      </p:sp>
      <p:pic>
        <p:nvPicPr>
          <p:cNvPr id="13" name="Kép 12" descr="A képen szöveg, menü, recept, étel látható&#10;&#10;Lehet, hogy az AI által létrehozott tartalom helytelen.">
            <a:extLst>
              <a:ext uri="{FF2B5EF4-FFF2-40B4-BE49-F238E27FC236}">
                <a16:creationId xmlns:a16="http://schemas.microsoft.com/office/drawing/2014/main" id="{84E3AEB5-CCA7-CE1D-B67E-A54202288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8755" y="0"/>
            <a:ext cx="4468109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1759" y="582811"/>
            <a:ext cx="6093619" cy="79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00"/>
              </a:lnSpc>
              <a:buNone/>
            </a:pPr>
            <a:r>
              <a:rPr lang="en-US" sz="4750" dirty="0">
                <a:solidFill>
                  <a:srgbClr val="532418"/>
                </a:solidFill>
                <a:latin typeface="Tw Cen MT"/>
                <a:ea typeface="Marcellus" pitchFamily="34" charset="-122"/>
                <a:cs typeface="Marcellus" pitchFamily="34" charset="-120"/>
              </a:rPr>
              <a:t>Kosár és rendelés</a:t>
            </a:r>
            <a:endParaRPr lang="en-US" sz="4750" dirty="0">
              <a:latin typeface="Tw Cen MT"/>
            </a:endParaRPr>
          </a:p>
        </p:txBody>
      </p:sp>
      <p:sp>
        <p:nvSpPr>
          <p:cNvPr id="4" name="Text 1"/>
          <p:cNvSpPr/>
          <p:nvPr/>
        </p:nvSpPr>
        <p:spPr>
          <a:xfrm>
            <a:off x="8748720" y="2636905"/>
            <a:ext cx="3656171" cy="47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4400" dirty="0">
                <a:solidFill>
                  <a:srgbClr val="FF95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Rendelés folyamata</a:t>
            </a:r>
            <a:endParaRPr lang="en-US" sz="4400" dirty="0">
              <a:latin typeface="Tw Cen MT"/>
            </a:endParaRPr>
          </a:p>
        </p:txBody>
      </p:sp>
      <p:sp>
        <p:nvSpPr>
          <p:cNvPr id="5" name="Text 2"/>
          <p:cNvSpPr/>
          <p:nvPr/>
        </p:nvSpPr>
        <p:spPr>
          <a:xfrm>
            <a:off x="8748720" y="3310204"/>
            <a:ext cx="4265295" cy="3535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Font typeface="+mj-lt"/>
              <a:buAutoNum type="arabicPeriod"/>
            </a:pPr>
            <a:r>
              <a:rPr lang="en-US" sz="280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Ételek</a:t>
            </a:r>
            <a:r>
              <a:rPr lang="en-US" sz="280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80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hozzáadása</a:t>
            </a:r>
            <a:r>
              <a:rPr lang="en-US" sz="280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280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kosárhoz</a:t>
            </a:r>
            <a:endParaRPr lang="en-US" sz="2800" dirty="0" err="1">
              <a:latin typeface="Tw Cen MT"/>
            </a:endParaRPr>
          </a:p>
          <a:p>
            <a:pPr marL="342900" indent="-342900">
              <a:lnSpc>
                <a:spcPts val="2050"/>
              </a:lnSpc>
              <a:buSzPct val="100000"/>
              <a:buAutoNum type="arabicPeriod"/>
            </a:pPr>
            <a:endParaRPr lang="en-US" sz="2800" dirty="0">
              <a:solidFill>
                <a:srgbClr val="67534F"/>
              </a:solidFill>
              <a:latin typeface="Tw Cen MT"/>
              <a:ea typeface="Montserrat" pitchFamily="34" charset="-122"/>
              <a:cs typeface="Montserrat" pitchFamily="34" charset="-120"/>
            </a:endParaRPr>
          </a:p>
          <a:p>
            <a:pPr marL="342900" indent="-342900">
              <a:lnSpc>
                <a:spcPts val="2050"/>
              </a:lnSpc>
              <a:buSzPct val="100000"/>
              <a:buFont typeface="+mj-lt"/>
              <a:buAutoNum type="arabicPeriod" startAt="2"/>
            </a:pPr>
            <a:r>
              <a:rPr lang="en-US" sz="280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Mennyiség</a:t>
            </a:r>
            <a:r>
              <a:rPr lang="en-US" sz="280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80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és</a:t>
            </a:r>
            <a:r>
              <a:rPr lang="en-US" sz="280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 extra </a:t>
            </a:r>
            <a:r>
              <a:rPr lang="en-US" sz="280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opciók</a:t>
            </a:r>
            <a:r>
              <a:rPr lang="en-US" sz="280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80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beállítása</a:t>
            </a:r>
            <a:endParaRPr lang="en-US" sz="2800" dirty="0">
              <a:latin typeface="Tw Cen MT"/>
            </a:endParaRPr>
          </a:p>
          <a:p>
            <a:pPr marL="342900" indent="-342900">
              <a:lnSpc>
                <a:spcPts val="2050"/>
              </a:lnSpc>
              <a:buSzPct val="100000"/>
              <a:buAutoNum type="arabicPeriod" startAt="3"/>
            </a:pPr>
            <a:endParaRPr lang="en-US" sz="2800" dirty="0">
              <a:solidFill>
                <a:srgbClr val="67534F"/>
              </a:solidFill>
              <a:latin typeface="Tw Cen MT"/>
              <a:ea typeface="Montserrat" pitchFamily="34" charset="-122"/>
              <a:cs typeface="Montserrat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AutoNum type="arabicPeriod" startAt="3"/>
            </a:pPr>
            <a:r>
              <a:rPr lang="en-US" sz="280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Szállítási</a:t>
            </a:r>
            <a:r>
              <a:rPr lang="en-US" sz="280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80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cím</a:t>
            </a:r>
            <a:r>
              <a:rPr lang="en-US" sz="280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80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megadása</a:t>
            </a:r>
            <a:endParaRPr lang="en-US" sz="2800">
              <a:latin typeface="Tw Cen MT"/>
            </a:endParaRPr>
          </a:p>
          <a:p>
            <a:pPr marL="342900" indent="-342900">
              <a:lnSpc>
                <a:spcPts val="2050"/>
              </a:lnSpc>
              <a:buSzPct val="100000"/>
              <a:buFont typeface="+mj-lt"/>
              <a:buAutoNum type="arabicPeriod" startAt="4"/>
            </a:pPr>
            <a:endParaRPr lang="en-US" sz="2800" dirty="0">
              <a:solidFill>
                <a:srgbClr val="67534F"/>
              </a:solidFill>
              <a:latin typeface="Tw Cen MT"/>
              <a:ea typeface="Montserrat" pitchFamily="34" charset="-122"/>
              <a:cs typeface="Montserrat" pitchFamily="34" charset="-120"/>
            </a:endParaRPr>
          </a:p>
          <a:p>
            <a:pPr marL="342900" indent="-342900">
              <a:lnSpc>
                <a:spcPts val="2050"/>
              </a:lnSpc>
              <a:buSzPct val="100000"/>
              <a:buAutoNum type="arabicPeriod" startAt="4"/>
            </a:pPr>
            <a:r>
              <a:rPr lang="en-US" sz="280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Fizetési</a:t>
            </a:r>
            <a:r>
              <a:rPr lang="en-US" sz="280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80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mód</a:t>
            </a:r>
            <a:r>
              <a:rPr lang="en-US" sz="280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80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kiválasztása</a:t>
            </a:r>
            <a:endParaRPr lang="en-US" sz="2800">
              <a:solidFill>
                <a:srgbClr val="000000"/>
              </a:solidFill>
              <a:latin typeface="Tw Cen MT"/>
              <a:ea typeface="Montserrat" pitchFamily="34" charset="-122"/>
              <a:cs typeface="Montserrat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Font typeface="+mj-lt"/>
              <a:buAutoNum type="arabicPeriod" startAt="5"/>
            </a:pPr>
            <a:endParaRPr lang="en-US" sz="2800" dirty="0">
              <a:solidFill>
                <a:srgbClr val="67534F"/>
              </a:solidFill>
              <a:latin typeface="Tw Cen MT"/>
            </a:endParaRPr>
          </a:p>
          <a:p>
            <a:pPr marL="342900" indent="-342900" algn="l">
              <a:lnSpc>
                <a:spcPts val="2050"/>
              </a:lnSpc>
              <a:buSzPct val="100000"/>
              <a:buAutoNum type="arabicPeriod" startAt="5"/>
            </a:pPr>
            <a:r>
              <a:rPr lang="en-US" sz="280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Rendelés</a:t>
            </a:r>
            <a:r>
              <a:rPr lang="en-US" sz="280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80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véglegesítése</a:t>
            </a:r>
            <a:endParaRPr lang="en-US" sz="2800">
              <a:latin typeface="Tw Cen MT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A6776A4D-15EB-E051-1087-81B2C162AD2C}"/>
              </a:ext>
            </a:extLst>
          </p:cNvPr>
          <p:cNvSpPr/>
          <p:nvPr/>
        </p:nvSpPr>
        <p:spPr>
          <a:xfrm>
            <a:off x="12150073" y="6997711"/>
            <a:ext cx="2485292" cy="1230923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8" name="Kép 7" descr="A képen szöveg, képernyőkép, szoftver, Számítógépes ikon látható&#10;&#10;Lehet, hogy az AI által létrehozott tartalom helytelen.">
            <a:extLst>
              <a:ext uri="{FF2B5EF4-FFF2-40B4-BE49-F238E27FC236}">
                <a16:creationId xmlns:a16="http://schemas.microsoft.com/office/drawing/2014/main" id="{24C45D72-D9F3-F5D6-FED2-5E88138C8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44" y="2641002"/>
            <a:ext cx="7788537" cy="39372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055608"/>
            <a:ext cx="7556421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Tw Cen MT"/>
                <a:ea typeface="Marcellus" pitchFamily="34" charset="-122"/>
                <a:cs typeface="Marcellus" pitchFamily="34" charset="-120"/>
              </a:rPr>
              <a:t>Bejelentkezés és regisztráció</a:t>
            </a:r>
            <a:endParaRPr lang="en-US" sz="5100" dirty="0">
              <a:latin typeface="Tw Cen MT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91220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674" y="3318034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Fiók létrehozás</a:t>
            </a:r>
            <a:endParaRPr lang="en-US" sz="2550" dirty="0">
              <a:latin typeface="Tw Cen MT"/>
            </a:endParaRPr>
          </a:p>
        </p:txBody>
      </p:sp>
      <p:sp>
        <p:nvSpPr>
          <p:cNvPr id="6" name="Text 2"/>
          <p:cNvSpPr/>
          <p:nvPr/>
        </p:nvSpPr>
        <p:spPr>
          <a:xfrm>
            <a:off x="2154674" y="3877985"/>
            <a:ext cx="619553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Email vagy közösségi bejelentkezés</a:t>
            </a:r>
            <a:endParaRPr lang="en-US" sz="1750" dirty="0">
              <a:latin typeface="Tw Cen MT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452104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674" y="4678918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Profil kitöltés</a:t>
            </a:r>
            <a:endParaRPr lang="en-US" sz="2550" dirty="0">
              <a:latin typeface="Tw Cen MT"/>
            </a:endParaRPr>
          </a:p>
        </p:txBody>
      </p:sp>
      <p:sp>
        <p:nvSpPr>
          <p:cNvPr id="9" name="Text 4"/>
          <p:cNvSpPr/>
          <p:nvPr/>
        </p:nvSpPr>
        <p:spPr>
          <a:xfrm>
            <a:off x="2154674" y="5238869"/>
            <a:ext cx="619553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Alapadatok és kedvenc étel típusok</a:t>
            </a:r>
            <a:endParaRPr lang="en-US" sz="1750" dirty="0">
              <a:latin typeface="Tw Cen MT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812988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54674" y="6039803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Biztonság</a:t>
            </a:r>
            <a:endParaRPr lang="en-US" sz="2550" dirty="0">
              <a:latin typeface="Tw Cen MT"/>
            </a:endParaRPr>
          </a:p>
        </p:txBody>
      </p:sp>
      <p:sp>
        <p:nvSpPr>
          <p:cNvPr id="12" name="Text 6"/>
          <p:cNvSpPr/>
          <p:nvPr/>
        </p:nvSpPr>
        <p:spPr>
          <a:xfrm>
            <a:off x="2154674" y="6599753"/>
            <a:ext cx="619553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Jelszó, 2-es faktoros hitelesítés</a:t>
            </a:r>
            <a:endParaRPr lang="en-US" sz="1750" dirty="0">
              <a:latin typeface="Tw Cen MT"/>
            </a:endParaRPr>
          </a:p>
        </p:txBody>
      </p:sp>
      <p:pic>
        <p:nvPicPr>
          <p:cNvPr id="13" name="Kép 12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B506D436-B025-18E9-365F-F9DE5EAB268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38" r="3446" b="-143"/>
          <a:stretch>
            <a:fillRect/>
          </a:stretch>
        </p:blipFill>
        <p:spPr>
          <a:xfrm>
            <a:off x="9809285" y="2198"/>
            <a:ext cx="4651556" cy="82369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20334"/>
            <a:ext cx="7556421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Tw Cen MT"/>
                <a:ea typeface="Marcellus" pitchFamily="34" charset="-122"/>
                <a:cs typeface="Marcellus" pitchFamily="34" charset="-120"/>
              </a:rPr>
              <a:t>Profil és leadott rendelések</a:t>
            </a:r>
            <a:endParaRPr lang="en-US" sz="5100" dirty="0">
              <a:latin typeface="Tw Cen MT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3982760"/>
            <a:ext cx="3501509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FF95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Profil beállítások</a:t>
            </a:r>
            <a:endParaRPr lang="en-US" sz="3050" dirty="0">
              <a:latin typeface="Tw Cen MT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4718090"/>
            <a:ext cx="3501509" cy="1711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Személyes adatok szerkesztése</a:t>
            </a:r>
            <a:endParaRPr lang="en-US" sz="1750" dirty="0">
              <a:latin typeface="Tw Cen MT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Mentett címek kezelése</a:t>
            </a:r>
            <a:endParaRPr lang="en-US" sz="1750" dirty="0">
              <a:latin typeface="Tw Cen MT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Értesítési preferenciák</a:t>
            </a:r>
            <a:endParaRPr lang="en-US" sz="1750" dirty="0">
              <a:latin typeface="Tw Cen MT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Jelszó módosítás</a:t>
            </a:r>
            <a:endParaRPr lang="en-US" sz="1750" dirty="0">
              <a:latin typeface="Tw Cen MT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342721" y="3982760"/>
            <a:ext cx="3501509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FF95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Rendelés történet</a:t>
            </a:r>
            <a:endParaRPr lang="en-US" sz="3050" dirty="0">
              <a:latin typeface="Tw Cen MT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342721" y="4718090"/>
            <a:ext cx="3501509" cy="141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Korábbi</a:t>
            </a: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5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rendelések</a:t>
            </a: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5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listája</a:t>
            </a:r>
            <a:endParaRPr lang="en-US" sz="1750" dirty="0" err="1">
              <a:latin typeface="Tw Cen MT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Szállítási</a:t>
            </a: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5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részletek</a:t>
            </a:r>
            <a:endParaRPr lang="en-US" sz="1750" dirty="0" err="1">
              <a:latin typeface="Tw Cen MT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Újra</a:t>
            </a: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50" dirty="0" err="1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rendelés</a:t>
            </a: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5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gyorsítása</a:t>
            </a:r>
            <a:endParaRPr lang="en-US" sz="1750" dirty="0">
              <a:latin typeface="Tw Cen MT"/>
            </a:endParaRP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7ED6273D-B63F-B7C7-6C22-CE77C6BBF6E5}"/>
              </a:ext>
            </a:extLst>
          </p:cNvPr>
          <p:cNvSpPr/>
          <p:nvPr/>
        </p:nvSpPr>
        <p:spPr>
          <a:xfrm>
            <a:off x="12150073" y="6997711"/>
            <a:ext cx="2485292" cy="1230923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07519"/>
            <a:ext cx="7271266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Tw Cen MT"/>
                <a:ea typeface="Marcellus" pitchFamily="34" charset="-122"/>
                <a:cs typeface="Marcellus" pitchFamily="34" charset="-120"/>
              </a:rPr>
              <a:t>Vélemények és kapcsolat</a:t>
            </a:r>
            <a:endParaRPr lang="en-US" sz="5100" dirty="0">
              <a:latin typeface="Tw Cen MT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0190" y="2295406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30653" y="2295406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Értékelések írása</a:t>
            </a:r>
            <a:endParaRPr lang="en-US" sz="2550" dirty="0">
              <a:latin typeface="Tw Cen MT"/>
            </a:endParaRPr>
          </a:p>
        </p:txBody>
      </p:sp>
      <p:sp>
        <p:nvSpPr>
          <p:cNvPr id="6" name="Text 2"/>
          <p:cNvSpPr/>
          <p:nvPr/>
        </p:nvSpPr>
        <p:spPr>
          <a:xfrm>
            <a:off x="7130653" y="2855357"/>
            <a:ext cx="6705957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Oszt meg tapasztalataidat másokkal</a:t>
            </a:r>
            <a:endParaRPr lang="en-US" sz="1750" dirty="0">
              <a:latin typeface="Tw Cen MT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0190" y="3603784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30653" y="3603784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Étel minőség</a:t>
            </a:r>
            <a:endParaRPr lang="en-US" sz="2550" dirty="0">
              <a:latin typeface="Tw Cen MT"/>
            </a:endParaRPr>
          </a:p>
        </p:txBody>
      </p:sp>
      <p:sp>
        <p:nvSpPr>
          <p:cNvPr id="9" name="Text 4"/>
          <p:cNvSpPr/>
          <p:nvPr/>
        </p:nvSpPr>
        <p:spPr>
          <a:xfrm>
            <a:off x="7130653" y="4163735"/>
            <a:ext cx="6705957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Részletes visszajelzés az ételről</a:t>
            </a:r>
            <a:endParaRPr lang="en-US" sz="1750" dirty="0">
              <a:latin typeface="Tw Cen MT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0190" y="4912162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30653" y="4912162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Ügyfélszolgálat</a:t>
            </a:r>
            <a:endParaRPr lang="en-US" sz="2550" dirty="0">
              <a:latin typeface="Tw Cen MT"/>
            </a:endParaRPr>
          </a:p>
        </p:txBody>
      </p:sp>
      <p:sp>
        <p:nvSpPr>
          <p:cNvPr id="12" name="Text 6"/>
          <p:cNvSpPr/>
          <p:nvPr/>
        </p:nvSpPr>
        <p:spPr>
          <a:xfrm>
            <a:off x="7130653" y="5472113"/>
            <a:ext cx="6705957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Elérhetőségek, élő chat, email</a:t>
            </a:r>
            <a:endParaRPr lang="en-US" sz="1750" dirty="0">
              <a:latin typeface="Tw Cen MT"/>
            </a:endParaRPr>
          </a:p>
        </p:txBody>
      </p:sp>
      <p:sp>
        <p:nvSpPr>
          <p:cNvPr id="13" name="Text 7"/>
          <p:cNvSpPr/>
          <p:nvPr/>
        </p:nvSpPr>
        <p:spPr>
          <a:xfrm>
            <a:off x="6620351" y="6277213"/>
            <a:ext cx="7216259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"Kiváló platform ételrendeléshez - gyors, megbízható, és mindig kiváló ételek!"</a:t>
            </a:r>
            <a:endParaRPr lang="en-US" sz="1750" dirty="0">
              <a:latin typeface="Tw Cen MT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6280190" y="6022062"/>
            <a:ext cx="30480" cy="1099899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DFF4309C-4337-9A7D-3475-CACC26C9199E}"/>
              </a:ext>
            </a:extLst>
          </p:cNvPr>
          <p:cNvSpPr/>
          <p:nvPr/>
        </p:nvSpPr>
        <p:spPr>
          <a:xfrm>
            <a:off x="12150073" y="6997711"/>
            <a:ext cx="2485292" cy="1230923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 descr="A képen szöveg, képernyőkép, Betűtípus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81FAF121-CF9C-D183-04DE-09458946A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4265"/>
            <a:ext cx="14630400" cy="774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931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42780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Tw Cen MT"/>
                <a:ea typeface="Marcellus" pitchFamily="34" charset="-122"/>
                <a:cs typeface="Marcellus" pitchFamily="34" charset="-120"/>
              </a:rPr>
              <a:t>Admin Panel</a:t>
            </a:r>
            <a:endParaRPr lang="en-US" sz="5100" dirty="0">
              <a:latin typeface="Tw Cen MT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3430667"/>
            <a:ext cx="3664744" cy="2556153"/>
          </a:xfrm>
          <a:prstGeom prst="roundRect">
            <a:avLst>
              <a:gd name="adj" fmla="val 3727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43464" y="368034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954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0630" y="3867507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3464" y="4587597"/>
            <a:ext cx="316539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Bejelentkezés</a:t>
            </a:r>
            <a:endParaRPr lang="en-US" sz="2550" dirty="0">
              <a:latin typeface="Tw Cen MT"/>
            </a:endParaRPr>
          </a:p>
        </p:txBody>
      </p:sp>
      <p:sp>
        <p:nvSpPr>
          <p:cNvPr id="8" name="Text 4"/>
          <p:cNvSpPr/>
          <p:nvPr/>
        </p:nvSpPr>
        <p:spPr>
          <a:xfrm>
            <a:off x="1043464" y="5147548"/>
            <a:ext cx="316539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Szuperadmin vagy étteremadmin hozzáférés.</a:t>
            </a:r>
            <a:endParaRPr lang="en-US" sz="1750" dirty="0">
              <a:latin typeface="Tw Cen MT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685348" y="3430667"/>
            <a:ext cx="3664863" cy="2556153"/>
          </a:xfrm>
          <a:prstGeom prst="roundRect">
            <a:avLst>
              <a:gd name="adj" fmla="val 3727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5022" y="368034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954F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2188" y="3867507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35022" y="4587597"/>
            <a:ext cx="3165515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Felhasználók Kezelése</a:t>
            </a:r>
            <a:endParaRPr lang="en-US" sz="2550" dirty="0">
              <a:latin typeface="Tw Cen MT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935022" y="5147548"/>
            <a:ext cx="3165515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Új adminok és éttermek egyszerű hozzáadása.</a:t>
            </a:r>
            <a:endParaRPr lang="en-US" sz="1750" dirty="0">
              <a:latin typeface="Tw Cen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3709"/>
            <a:ext cx="9743123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Tw Cen MT"/>
                <a:ea typeface="Marcellus" pitchFamily="34" charset="-122"/>
                <a:cs typeface="Marcellus" pitchFamily="34" charset="-120"/>
              </a:rPr>
              <a:t>Admin Panel: Éttermek és Menük</a:t>
            </a:r>
            <a:endParaRPr lang="en-US" sz="5100" dirty="0">
              <a:latin typeface="Tw Cen M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241596"/>
            <a:ext cx="6407944" cy="2934176"/>
          </a:xfrm>
          <a:prstGeom prst="roundRect">
            <a:avLst>
              <a:gd name="adj" fmla="val 3247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3272076"/>
            <a:ext cx="6346984" cy="680442"/>
          </a:xfrm>
          <a:prstGeom prst="roundRect">
            <a:avLst>
              <a:gd name="adj" fmla="val 8626"/>
            </a:avLst>
          </a:prstGeom>
          <a:solidFill>
            <a:srgbClr val="FFFFF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621" y="3430667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084" y="4179332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Éttermek Szerkesztése</a:t>
            </a:r>
            <a:endParaRPr lang="en-US" sz="2550" dirty="0">
              <a:latin typeface="Tw Cen MT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51084" y="4739283"/>
            <a:ext cx="5893356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Lehetővé teszi a partner éttermek profiljának, nyitvatartásának, elérhetőségeinek és egyéb fontos adatainak </a:t>
            </a:r>
            <a:r>
              <a:rPr lang="en-US" sz="1750" b="1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teljes körű kezelését és frissítését</a:t>
            </a: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>
              <a:latin typeface="Tw Cen MT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428548" y="3241596"/>
            <a:ext cx="6408063" cy="2934176"/>
          </a:xfrm>
          <a:prstGeom prst="roundRect">
            <a:avLst>
              <a:gd name="adj" fmla="val 3247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59027" y="3272076"/>
            <a:ext cx="6347103" cy="680442"/>
          </a:xfrm>
          <a:prstGeom prst="roundRect">
            <a:avLst>
              <a:gd name="adj" fmla="val 8626"/>
            </a:avLst>
          </a:prstGeom>
          <a:solidFill>
            <a:srgbClr val="FFFFF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2498" y="3430667"/>
            <a:ext cx="340162" cy="3401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5842" y="4179332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Tw Cen MT"/>
                <a:ea typeface="Marcellus" pitchFamily="34" charset="-122"/>
                <a:cs typeface="Marcellus" pitchFamily="34" charset="-120"/>
              </a:rPr>
              <a:t>Menü Módosítás</a:t>
            </a:r>
            <a:endParaRPr lang="en-US" sz="2550" dirty="0">
              <a:latin typeface="Tw Cen MT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685842" y="4739283"/>
            <a:ext cx="5893475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Biztosítja az étlapok </a:t>
            </a:r>
            <a:r>
              <a:rPr lang="en-US" sz="1750" b="1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gyors és hatékony frissítését</a:t>
            </a:r>
            <a:r>
              <a:rPr lang="en-US" sz="1750" dirty="0">
                <a:solidFill>
                  <a:srgbClr val="67534F"/>
                </a:solidFill>
                <a:latin typeface="Tw Cen MT"/>
                <a:ea typeface="Montserrat" pitchFamily="34" charset="-122"/>
                <a:cs typeface="Montserrat" pitchFamily="34" charset="-120"/>
              </a:rPr>
              <a:t>, beleértve az ételek hozzáadását, eltávolítását, árak és leírások módosítását, valamint allergének feltüntetését.</a:t>
            </a:r>
            <a:endParaRPr lang="en-US" sz="1750" dirty="0">
              <a:latin typeface="Tw Cen MT"/>
            </a:endParaRPr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9271813C-F80C-6040-21CB-9B59C1E17407}"/>
              </a:ext>
            </a:extLst>
          </p:cNvPr>
          <p:cNvSpPr/>
          <p:nvPr/>
        </p:nvSpPr>
        <p:spPr>
          <a:xfrm>
            <a:off x="12150073" y="6997711"/>
            <a:ext cx="2485292" cy="1230923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01810"/>
            <a:ext cx="13042821" cy="339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50"/>
              </a:lnSpc>
              <a:buNone/>
            </a:pPr>
            <a:r>
              <a:rPr lang="en-US" sz="102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Köszönjük a figyelmet!</a:t>
            </a:r>
            <a:endParaRPr lang="en-US" sz="10250" dirty="0"/>
          </a:p>
        </p:txBody>
      </p:sp>
      <p:sp>
        <p:nvSpPr>
          <p:cNvPr id="3" name="Text 1"/>
          <p:cNvSpPr/>
          <p:nvPr/>
        </p:nvSpPr>
        <p:spPr>
          <a:xfrm>
            <a:off x="793790" y="5832872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Várjuk kérdéseit!</a:t>
            </a:r>
            <a:endParaRPr lang="en-US" sz="1750" dirty="0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8A31F6FD-BEE3-6293-E044-6DC332B099A8}"/>
              </a:ext>
            </a:extLst>
          </p:cNvPr>
          <p:cNvSpPr/>
          <p:nvPr/>
        </p:nvSpPr>
        <p:spPr>
          <a:xfrm>
            <a:off x="12150073" y="6997711"/>
            <a:ext cx="2485292" cy="1230923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Egyéni</PresentationFormat>
  <Paragraphs>0</Paragraphs>
  <Slides>18</Slides>
  <Notes>17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18</vt:i4>
      </vt:variant>
    </vt:vector>
  </HeadingPairs>
  <TitlesOfParts>
    <vt:vector size="19" baseType="lpstr"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79</cp:revision>
  <dcterms:created xsi:type="dcterms:W3CDTF">2026-03-25T22:47:04Z</dcterms:created>
  <dcterms:modified xsi:type="dcterms:W3CDTF">2026-03-25T23:06:31Z</dcterms:modified>
</cp:coreProperties>
</file>